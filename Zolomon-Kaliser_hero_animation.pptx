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frame. Zolomon Kaliser market assessment for early-stage medical device founders. All figures shown are illustrative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Competitor matrix: five cleared devices with regulatory pathway, list price and market position, plus the source notes behind each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TAM, SAM and SOM with the sourced assumption line beneath each figure, showing the math narrowing from total US prevalence to the obtainable segment.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Coding and payment pathway: CPT and HCPCS codes with national average payment, commercial payer coverage split, and the blended average allowed amount per procedure.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Five-year base case: units, ASP, revenue, COGS and gross margin, with the revenue curve alongside. Assumes 340 target centers and 3.4% annual ASP erosion.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77095" y="476250"/>
            <a:ext cx="29923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27" kern="0" dirty="0">
                <a:solidFill>
                  <a:srgbClr val="A3A2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sample data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590550" y="3955777"/>
            <a:ext cx="809149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24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ZOLOMON KALISER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0550" y="4455840"/>
            <a:ext cx="7355904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5" name="Text 3"/>
          <p:cNvSpPr/>
          <p:nvPr/>
        </p:nvSpPr>
        <p:spPr>
          <a:xfrm>
            <a:off x="590550" y="4741590"/>
            <a:ext cx="8091495" cy="719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622"/>
              </a:lnSpc>
              <a:buNone/>
            </a:pPr>
            <a:r>
              <a:rPr lang="en-US" sz="4875" dirty="0">
                <a:solidFill>
                  <a:srgbClr val="1618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assessment</a:t>
            </a:r>
            <a:endParaRPr lang="en-US" sz="4875" dirty="0"/>
          </a:p>
        </p:txBody>
      </p:sp>
      <p:sp>
        <p:nvSpPr>
          <p:cNvPr id="6" name="Text 4"/>
          <p:cNvSpPr/>
          <p:nvPr/>
        </p:nvSpPr>
        <p:spPr>
          <a:xfrm>
            <a:off x="590550" y="5660752"/>
            <a:ext cx="7576582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650" spc="66" kern="0" dirty="0">
                <a:solidFill>
                  <a:srgbClr val="7D80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Early-stage medical device Illustrative sample data · prepared for founder review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341471" y="3767138"/>
            <a:ext cx="7355904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8" name="Text 6"/>
          <p:cNvSpPr/>
          <p:nvPr/>
        </p:nvSpPr>
        <p:spPr>
          <a:xfrm>
            <a:off x="10341471" y="3405188"/>
            <a:ext cx="75765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341471" y="4543425"/>
            <a:ext cx="7355904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10" name="Text 8"/>
          <p:cNvSpPr/>
          <p:nvPr/>
        </p:nvSpPr>
        <p:spPr>
          <a:xfrm>
            <a:off x="10341471" y="4071938"/>
            <a:ext cx="2819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5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804401" y="4005262"/>
            <a:ext cx="330041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Competitive landscape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0341471" y="5319713"/>
            <a:ext cx="7355904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13" name="Text 11"/>
          <p:cNvSpPr/>
          <p:nvPr/>
        </p:nvSpPr>
        <p:spPr>
          <a:xfrm>
            <a:off x="10341471" y="4848225"/>
            <a:ext cx="2819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5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804401" y="4781550"/>
            <a:ext cx="204311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sizing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0341471" y="6096000"/>
            <a:ext cx="7355904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16" name="Text 14"/>
          <p:cNvSpPr/>
          <p:nvPr/>
        </p:nvSpPr>
        <p:spPr>
          <a:xfrm>
            <a:off x="10341471" y="5624513"/>
            <a:ext cx="2819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5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804401" y="5557838"/>
            <a:ext cx="36147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Reimbursement &amp; pricing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0341471" y="6872288"/>
            <a:ext cx="7355904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19" name="Text 17"/>
          <p:cNvSpPr/>
          <p:nvPr/>
        </p:nvSpPr>
        <p:spPr>
          <a:xfrm>
            <a:off x="10341471" y="6400800"/>
            <a:ext cx="28195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5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804401" y="6334125"/>
            <a:ext cx="361473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Five-year revenue model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77095" y="476250"/>
            <a:ext cx="29923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27" kern="0" dirty="0">
                <a:solidFill>
                  <a:srgbClr val="A3A2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sample data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590550" y="1586805"/>
            <a:ext cx="17106900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4" name="Text 2"/>
          <p:cNvSpPr/>
          <p:nvPr/>
        </p:nvSpPr>
        <p:spPr>
          <a:xfrm>
            <a:off x="590550" y="619125"/>
            <a:ext cx="188175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81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COMPETITIVE LANDSCAPE · </a:t>
            </a:r>
            <a:pPr algn="l" indent="0" marL="0">
              <a:buNone/>
            </a:pPr>
            <a:r>
              <a:rPr lang="en-US" sz="1275" spc="281" kern="0" dirty="0">
                <a:solidFill>
                  <a:srgbClr val="A3A2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590550" y="923925"/>
            <a:ext cx="1881759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00"/>
              </a:lnSpc>
              <a:buNone/>
            </a:pPr>
            <a:r>
              <a:rPr lang="en-US" sz="3300" dirty="0">
                <a:solidFill>
                  <a:srgbClr val="1618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Cleared devices, United States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0550" y="3522315"/>
            <a:ext cx="3347740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7" name="Text 5"/>
          <p:cNvSpPr/>
          <p:nvPr/>
        </p:nvSpPr>
        <p:spPr>
          <a:xfrm>
            <a:off x="704850" y="3207990"/>
            <a:ext cx="32195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8290" y="3522315"/>
            <a:ext cx="2008659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9" name="Text 7"/>
          <p:cNvSpPr/>
          <p:nvPr/>
        </p:nvSpPr>
        <p:spPr>
          <a:xfrm>
            <a:off x="4052590" y="3207990"/>
            <a:ext cx="18562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PATHWAY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6949" y="3522315"/>
            <a:ext cx="1626096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11" name="Text 9"/>
          <p:cNvSpPr/>
          <p:nvPr/>
        </p:nvSpPr>
        <p:spPr>
          <a:xfrm>
            <a:off x="5985049" y="3207990"/>
            <a:ext cx="1473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spc="168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73045" y="3522315"/>
            <a:ext cx="1913037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13" name="Text 11"/>
          <p:cNvSpPr/>
          <p:nvPr/>
        </p:nvSpPr>
        <p:spPr>
          <a:xfrm>
            <a:off x="7611145" y="3207990"/>
            <a:ext cx="17606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spc="168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0550" y="4393853"/>
            <a:ext cx="3347740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15" name="Text 13"/>
          <p:cNvSpPr/>
          <p:nvPr/>
        </p:nvSpPr>
        <p:spPr>
          <a:xfrm>
            <a:off x="704850" y="3808065"/>
            <a:ext cx="321957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Cardiotek Vantage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3938290" y="4393853"/>
            <a:ext cx="2008659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17" name="Text 15"/>
          <p:cNvSpPr/>
          <p:nvPr/>
        </p:nvSpPr>
        <p:spPr>
          <a:xfrm>
            <a:off x="4052590" y="3808065"/>
            <a:ext cx="185625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510(k)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5946949" y="4393853"/>
            <a:ext cx="1626096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19" name="Text 17"/>
          <p:cNvSpPr/>
          <p:nvPr/>
        </p:nvSpPr>
        <p:spPr>
          <a:xfrm>
            <a:off x="5985049" y="3808065"/>
            <a:ext cx="147369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$14,200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7573045" y="4393853"/>
            <a:ext cx="1913037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21" name="Text 19"/>
          <p:cNvSpPr/>
          <p:nvPr/>
        </p:nvSpPr>
        <p:spPr>
          <a:xfrm>
            <a:off x="7611145" y="3808065"/>
            <a:ext cx="176063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Incumbent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590550" y="5265390"/>
            <a:ext cx="3347740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23" name="Text 21"/>
          <p:cNvSpPr/>
          <p:nvPr/>
        </p:nvSpPr>
        <p:spPr>
          <a:xfrm>
            <a:off x="704850" y="4679603"/>
            <a:ext cx="321957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Nuvelle A2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3938290" y="5265390"/>
            <a:ext cx="2008659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25" name="Text 23"/>
          <p:cNvSpPr/>
          <p:nvPr/>
        </p:nvSpPr>
        <p:spPr>
          <a:xfrm>
            <a:off x="4052590" y="4679603"/>
            <a:ext cx="185625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F5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Novo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5946949" y="5265390"/>
            <a:ext cx="1626096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27" name="Text 25"/>
          <p:cNvSpPr/>
          <p:nvPr/>
        </p:nvSpPr>
        <p:spPr>
          <a:xfrm>
            <a:off x="5985049" y="4679603"/>
            <a:ext cx="147369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$9,800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7573045" y="5265390"/>
            <a:ext cx="1913037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29" name="Text 27"/>
          <p:cNvSpPr/>
          <p:nvPr/>
        </p:nvSpPr>
        <p:spPr>
          <a:xfrm>
            <a:off x="7611145" y="4679603"/>
            <a:ext cx="176063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Challenger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590550" y="6136928"/>
            <a:ext cx="3347740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31" name="Text 29"/>
          <p:cNvSpPr/>
          <p:nvPr/>
        </p:nvSpPr>
        <p:spPr>
          <a:xfrm>
            <a:off x="704850" y="5551140"/>
            <a:ext cx="321957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Perisys One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3938290" y="6136928"/>
            <a:ext cx="2008659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33" name="Text 31"/>
          <p:cNvSpPr/>
          <p:nvPr/>
        </p:nvSpPr>
        <p:spPr>
          <a:xfrm>
            <a:off x="4052590" y="5551140"/>
            <a:ext cx="185625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510(k)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5946949" y="6136928"/>
            <a:ext cx="1626096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35" name="Text 33"/>
          <p:cNvSpPr/>
          <p:nvPr/>
        </p:nvSpPr>
        <p:spPr>
          <a:xfrm>
            <a:off x="5985049" y="5551140"/>
            <a:ext cx="147369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$11,400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573045" y="6136928"/>
            <a:ext cx="1913037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37" name="Text 35"/>
          <p:cNvSpPr/>
          <p:nvPr/>
        </p:nvSpPr>
        <p:spPr>
          <a:xfrm>
            <a:off x="7611145" y="5551140"/>
            <a:ext cx="176063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590550" y="7008465"/>
            <a:ext cx="3347740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39" name="Text 37"/>
          <p:cNvSpPr/>
          <p:nvPr/>
        </p:nvSpPr>
        <p:spPr>
          <a:xfrm>
            <a:off x="704850" y="6422678"/>
            <a:ext cx="321957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Orbis Meridian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3938290" y="7008465"/>
            <a:ext cx="2008659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41" name="Text 39"/>
          <p:cNvSpPr/>
          <p:nvPr/>
        </p:nvSpPr>
        <p:spPr>
          <a:xfrm>
            <a:off x="4052590" y="6422678"/>
            <a:ext cx="185625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PMA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5946949" y="7008465"/>
            <a:ext cx="1626096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43" name="Text 41"/>
          <p:cNvSpPr/>
          <p:nvPr/>
        </p:nvSpPr>
        <p:spPr>
          <a:xfrm>
            <a:off x="5985049" y="6422678"/>
            <a:ext cx="147369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$26,500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7573045" y="7008465"/>
            <a:ext cx="1913037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45" name="Text 43"/>
          <p:cNvSpPr/>
          <p:nvPr/>
        </p:nvSpPr>
        <p:spPr>
          <a:xfrm>
            <a:off x="7611145" y="6422678"/>
            <a:ext cx="176063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590550" y="8189565"/>
            <a:ext cx="3347740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47" name="Text 45"/>
          <p:cNvSpPr/>
          <p:nvPr/>
        </p:nvSpPr>
        <p:spPr>
          <a:xfrm>
            <a:off x="704850" y="7294215"/>
            <a:ext cx="321957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Halden Loop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3938290" y="8189565"/>
            <a:ext cx="2008659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49" name="Text 47"/>
          <p:cNvSpPr/>
          <p:nvPr/>
        </p:nvSpPr>
        <p:spPr>
          <a:xfrm>
            <a:off x="4052590" y="7294215"/>
            <a:ext cx="185625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510(k) exempt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5946949" y="8189565"/>
            <a:ext cx="1626096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51" name="Text 49"/>
          <p:cNvSpPr/>
          <p:nvPr/>
        </p:nvSpPr>
        <p:spPr>
          <a:xfrm>
            <a:off x="5985049" y="7294215"/>
            <a:ext cx="147369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$6,100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7573045" y="8189565"/>
            <a:ext cx="1913037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53" name="Text 51"/>
          <p:cNvSpPr/>
          <p:nvPr/>
        </p:nvSpPr>
        <p:spPr>
          <a:xfrm>
            <a:off x="7611145" y="7294215"/>
            <a:ext cx="176063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Entrant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10854630" y="3427065"/>
            <a:ext cx="6842745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55" name="Text 53"/>
          <p:cNvSpPr/>
          <p:nvPr/>
        </p:nvSpPr>
        <p:spPr>
          <a:xfrm>
            <a:off x="10854630" y="3093690"/>
            <a:ext cx="70480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NOTES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0854630" y="4784378"/>
            <a:ext cx="6842745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57" name="Text 55"/>
          <p:cNvSpPr/>
          <p:nvPr/>
        </p:nvSpPr>
        <p:spPr>
          <a:xfrm>
            <a:off x="10854630" y="3741390"/>
            <a:ext cx="7048027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965"/>
              </a:lnSpc>
              <a:buNone/>
            </a:pPr>
            <a:r>
              <a:rPr lang="en-US" sz="1875" dirty="0">
                <a:solidFill>
                  <a:srgbClr val="424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FDA 510(k) clearance database, Q2 2025. n = 14 cleared devices in scope.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10854630" y="6141690"/>
            <a:ext cx="6842745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59" name="Text 57"/>
          <p:cNvSpPr/>
          <p:nvPr/>
        </p:nvSpPr>
        <p:spPr>
          <a:xfrm>
            <a:off x="10854630" y="5098703"/>
            <a:ext cx="7048027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965"/>
              </a:lnSpc>
              <a:buNone/>
            </a:pPr>
            <a:r>
              <a:rPr lang="en-US" sz="1875" dirty="0">
                <a:solidFill>
                  <a:srgbClr val="424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is published list from three IDN contracts; net of rebate not disclosed.</a:t>
            </a:r>
            <a:endParaRPr lang="en-US" sz="1875" dirty="0"/>
          </a:p>
        </p:txBody>
      </p:sp>
      <p:sp>
        <p:nvSpPr>
          <p:cNvPr id="60" name="Text 58"/>
          <p:cNvSpPr/>
          <p:nvPr/>
        </p:nvSpPr>
        <p:spPr>
          <a:xfrm>
            <a:off x="10854630" y="6360765"/>
            <a:ext cx="7048027" cy="776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965"/>
              </a:lnSpc>
              <a:buNone/>
            </a:pPr>
            <a:r>
              <a:rPr lang="en-US" sz="1875" dirty="0">
                <a:solidFill>
                  <a:srgbClr val="424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 assigned from labelled indication and share of cath-lab installs.</a:t>
            </a:r>
            <a:endParaRPr lang="en-US" sz="1875" dirty="0"/>
          </a:p>
        </p:txBody>
      </p:sp>
      <p:sp>
        <p:nvSpPr>
          <p:cNvPr id="61" name="Shape 59"/>
          <p:cNvSpPr/>
          <p:nvPr/>
        </p:nvSpPr>
        <p:spPr>
          <a:xfrm>
            <a:off x="590550" y="9439275"/>
            <a:ext cx="17106900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62" name="Text 60"/>
          <p:cNvSpPr/>
          <p:nvPr/>
        </p:nvSpPr>
        <p:spPr>
          <a:xfrm>
            <a:off x="590550" y="9610725"/>
            <a:ext cx="43419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3A2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Zolomon Kaliser · Market assessment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6907991" y="9610725"/>
            <a:ext cx="8656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3A2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77095" y="476250"/>
            <a:ext cx="29923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27" kern="0" dirty="0">
                <a:solidFill>
                  <a:srgbClr val="A3A2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sample data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590550" y="1586805"/>
            <a:ext cx="17106900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4" name="Text 2"/>
          <p:cNvSpPr/>
          <p:nvPr/>
        </p:nvSpPr>
        <p:spPr>
          <a:xfrm>
            <a:off x="590550" y="619125"/>
            <a:ext cx="188175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81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MARKET SIZING · </a:t>
            </a:r>
            <a:pPr algn="l" indent="0" marL="0">
              <a:buNone/>
            </a:pPr>
            <a:r>
              <a:rPr lang="en-US" sz="1275" spc="281" kern="0" dirty="0">
                <a:solidFill>
                  <a:srgbClr val="A3A2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590550" y="923925"/>
            <a:ext cx="1881759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00"/>
              </a:lnSpc>
              <a:buNone/>
            </a:pPr>
            <a:r>
              <a:rPr lang="en-US" sz="3300" dirty="0">
                <a:solidFill>
                  <a:srgbClr val="1618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Total, served and obtainable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0550" y="4703415"/>
            <a:ext cx="8895531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7" name="Text 5"/>
          <p:cNvSpPr/>
          <p:nvPr/>
        </p:nvSpPr>
        <p:spPr>
          <a:xfrm>
            <a:off x="590550" y="3684240"/>
            <a:ext cx="7334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30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485900" y="3341340"/>
            <a:ext cx="424969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2.4M patients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5587380" y="3527078"/>
            <a:ext cx="10191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$1.8B</a:t>
            </a:r>
            <a:endParaRPr lang="en-US" sz="2475" dirty="0"/>
          </a:p>
        </p:txBody>
      </p:sp>
      <p:sp>
        <p:nvSpPr>
          <p:cNvPr id="10" name="Text 8"/>
          <p:cNvSpPr/>
          <p:nvPr/>
        </p:nvSpPr>
        <p:spPr>
          <a:xfrm>
            <a:off x="1485900" y="4084290"/>
            <a:ext cx="888973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F63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 prevalence, CDC WONDER 2024 × $740 blended device ASP.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590550" y="6456015"/>
            <a:ext cx="8895531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12" name="Text 10"/>
          <p:cNvSpPr/>
          <p:nvPr/>
        </p:nvSpPr>
        <p:spPr>
          <a:xfrm>
            <a:off x="590550" y="5436840"/>
            <a:ext cx="7334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30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485900" y="5093940"/>
            <a:ext cx="424969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610K patients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5587380" y="5279678"/>
            <a:ext cx="10191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$462M</a:t>
            </a:r>
            <a:endParaRPr lang="en-US" sz="2475" dirty="0"/>
          </a:p>
        </p:txBody>
      </p:sp>
      <p:sp>
        <p:nvSpPr>
          <p:cNvPr id="15" name="Text 13"/>
          <p:cNvSpPr/>
          <p:nvPr/>
        </p:nvSpPr>
        <p:spPr>
          <a:xfrm>
            <a:off x="1485900" y="5836890"/>
            <a:ext cx="888973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F63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 managed in hospital cath-lab settings (NIS 2023).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590550" y="7189440"/>
            <a:ext cx="7334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30" kern="0" dirty="0">
                <a:solidFill>
                  <a:srgbClr val="1F5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485900" y="6846540"/>
            <a:ext cx="392284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dirty="0">
                <a:solidFill>
                  <a:srgbClr val="1F5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74K patients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5290245" y="7032278"/>
            <a:ext cx="83061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$58M</a:t>
            </a:r>
            <a:endParaRPr lang="en-US" sz="2475" dirty="0"/>
          </a:p>
        </p:txBody>
      </p:sp>
      <p:sp>
        <p:nvSpPr>
          <p:cNvPr id="19" name="Text 17"/>
          <p:cNvSpPr/>
          <p:nvPr/>
        </p:nvSpPr>
        <p:spPr>
          <a:xfrm>
            <a:off x="1485900" y="7589490"/>
            <a:ext cx="888973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F63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12.6% of SAM by year five across 340 target centers.</a:t>
            </a:r>
            <a:endParaRPr lang="en-US" sz="1875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2549" y="2960340"/>
            <a:ext cx="7184827" cy="53340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90550" y="9439275"/>
            <a:ext cx="17106900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22" name="Text 19"/>
          <p:cNvSpPr/>
          <p:nvPr/>
        </p:nvSpPr>
        <p:spPr>
          <a:xfrm>
            <a:off x="590550" y="9610725"/>
            <a:ext cx="43419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3A2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Zolomon Kaliser · Market assessment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6907991" y="9610725"/>
            <a:ext cx="8656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3A2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77095" y="476250"/>
            <a:ext cx="29923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27" kern="0" dirty="0">
                <a:solidFill>
                  <a:srgbClr val="A3A2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sample data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590550" y="1586805"/>
            <a:ext cx="17106900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4" name="Text 2"/>
          <p:cNvSpPr/>
          <p:nvPr/>
        </p:nvSpPr>
        <p:spPr>
          <a:xfrm>
            <a:off x="590550" y="619125"/>
            <a:ext cx="188175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81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REIMBURSEMENT &amp; PRICING · </a:t>
            </a:r>
            <a:pPr algn="l" indent="0" marL="0">
              <a:buNone/>
            </a:pPr>
            <a:r>
              <a:rPr lang="en-US" sz="1275" spc="281" kern="0" dirty="0">
                <a:solidFill>
                  <a:srgbClr val="A3A2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590550" y="923925"/>
            <a:ext cx="1881759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00"/>
              </a:lnSpc>
              <a:buNone/>
            </a:pPr>
            <a:r>
              <a:rPr lang="en-US" sz="3300" dirty="0">
                <a:solidFill>
                  <a:srgbClr val="1618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and payment pathway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0550" y="3572321"/>
            <a:ext cx="1407616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7" name="Text 5"/>
          <p:cNvSpPr/>
          <p:nvPr/>
        </p:nvSpPr>
        <p:spPr>
          <a:xfrm>
            <a:off x="704850" y="3257996"/>
            <a:ext cx="12552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98166" y="3572321"/>
            <a:ext cx="4222924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9" name="Text 7"/>
          <p:cNvSpPr/>
          <p:nvPr/>
        </p:nvSpPr>
        <p:spPr>
          <a:xfrm>
            <a:off x="2112466" y="3257996"/>
            <a:ext cx="41210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21090" y="3572321"/>
            <a:ext cx="1583606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11" name="Text 9"/>
          <p:cNvSpPr/>
          <p:nvPr/>
        </p:nvSpPr>
        <p:spPr>
          <a:xfrm>
            <a:off x="6335390" y="3257996"/>
            <a:ext cx="14312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04696" y="3572321"/>
            <a:ext cx="2023542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13" name="Text 11"/>
          <p:cNvSpPr/>
          <p:nvPr/>
        </p:nvSpPr>
        <p:spPr>
          <a:xfrm>
            <a:off x="7842796" y="3257996"/>
            <a:ext cx="187114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spc="168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NAT'L AVG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0550" y="4791521"/>
            <a:ext cx="1407616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15" name="Text 13"/>
          <p:cNvSpPr/>
          <p:nvPr/>
        </p:nvSpPr>
        <p:spPr>
          <a:xfrm>
            <a:off x="704850" y="3877121"/>
            <a:ext cx="125521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33999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998166" y="4791521"/>
            <a:ext cx="4222924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17" name="Text 15"/>
          <p:cNvSpPr/>
          <p:nvPr/>
        </p:nvSpPr>
        <p:spPr>
          <a:xfrm>
            <a:off x="2112466" y="3877121"/>
            <a:ext cx="412101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24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Unlisted cardiovascular proc.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6221090" y="4791521"/>
            <a:ext cx="1583606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19" name="Text 17"/>
          <p:cNvSpPr/>
          <p:nvPr/>
        </p:nvSpPr>
        <p:spPr>
          <a:xfrm>
            <a:off x="6335390" y="3877121"/>
            <a:ext cx="143120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HOPD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7804696" y="4791521"/>
            <a:ext cx="2023542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21" name="Text 19"/>
          <p:cNvSpPr/>
          <p:nvPr/>
        </p:nvSpPr>
        <p:spPr>
          <a:xfrm>
            <a:off x="7842796" y="3877121"/>
            <a:ext cx="187114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$1,284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590550" y="6010721"/>
            <a:ext cx="1407616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23" name="Text 21"/>
          <p:cNvSpPr/>
          <p:nvPr/>
        </p:nvSpPr>
        <p:spPr>
          <a:xfrm>
            <a:off x="704850" y="5096321"/>
            <a:ext cx="125521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C9762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998166" y="6010721"/>
            <a:ext cx="4222924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25" name="Text 23"/>
          <p:cNvSpPr/>
          <p:nvPr/>
        </p:nvSpPr>
        <p:spPr>
          <a:xfrm>
            <a:off x="2112466" y="5096321"/>
            <a:ext cx="412101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24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Cardiac MR w/ strain imaging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6221090" y="6010721"/>
            <a:ext cx="1583606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27" name="Text 25"/>
          <p:cNvSpPr/>
          <p:nvPr/>
        </p:nvSpPr>
        <p:spPr>
          <a:xfrm>
            <a:off x="6335390" y="5096321"/>
            <a:ext cx="143120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HOPD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7804696" y="6010721"/>
            <a:ext cx="2023542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29" name="Text 27"/>
          <p:cNvSpPr/>
          <p:nvPr/>
        </p:nvSpPr>
        <p:spPr>
          <a:xfrm>
            <a:off x="7842796" y="5096321"/>
            <a:ext cx="187114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$968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590550" y="6920359"/>
            <a:ext cx="1407616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31" name="Text 29"/>
          <p:cNvSpPr/>
          <p:nvPr/>
        </p:nvSpPr>
        <p:spPr>
          <a:xfrm>
            <a:off x="704850" y="6315521"/>
            <a:ext cx="125521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93356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998166" y="6920359"/>
            <a:ext cx="4222924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33" name="Text 31"/>
          <p:cNvSpPr/>
          <p:nvPr/>
        </p:nvSpPr>
        <p:spPr>
          <a:xfrm>
            <a:off x="2112466" y="6315521"/>
            <a:ext cx="412101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24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Myocardial strain, add-on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6221090" y="6920359"/>
            <a:ext cx="1583606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35" name="Text 33"/>
          <p:cNvSpPr/>
          <p:nvPr/>
        </p:nvSpPr>
        <p:spPr>
          <a:xfrm>
            <a:off x="6335390" y="6315521"/>
            <a:ext cx="143120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Facility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7804696" y="6920359"/>
            <a:ext cx="2023542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37" name="Text 35"/>
          <p:cNvSpPr/>
          <p:nvPr/>
        </p:nvSpPr>
        <p:spPr>
          <a:xfrm>
            <a:off x="7842796" y="6315521"/>
            <a:ext cx="187114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$312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590550" y="8139559"/>
            <a:ext cx="1407616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39" name="Text 37"/>
          <p:cNvSpPr/>
          <p:nvPr/>
        </p:nvSpPr>
        <p:spPr>
          <a:xfrm>
            <a:off x="704850" y="7225159"/>
            <a:ext cx="125521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0623T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1998166" y="8139559"/>
            <a:ext cx="4222924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41" name="Text 39"/>
          <p:cNvSpPr/>
          <p:nvPr/>
        </p:nvSpPr>
        <p:spPr>
          <a:xfrm>
            <a:off x="2112466" y="7225159"/>
            <a:ext cx="412101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24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Coronary plaque quant.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6221090" y="8139559"/>
            <a:ext cx="1583606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43" name="Text 41"/>
          <p:cNvSpPr/>
          <p:nvPr/>
        </p:nvSpPr>
        <p:spPr>
          <a:xfrm>
            <a:off x="6335390" y="7225159"/>
            <a:ext cx="143120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Cat. III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7804696" y="8139559"/>
            <a:ext cx="2023542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45" name="Text 43"/>
          <p:cNvSpPr/>
          <p:nvPr/>
        </p:nvSpPr>
        <p:spPr>
          <a:xfrm>
            <a:off x="7842796" y="7225159"/>
            <a:ext cx="187114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Carrier-priced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11025708" y="3486596"/>
            <a:ext cx="6671667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47" name="Text 45"/>
          <p:cNvSpPr/>
          <p:nvPr/>
        </p:nvSpPr>
        <p:spPr>
          <a:xfrm>
            <a:off x="11025708" y="3143696"/>
            <a:ext cx="68718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COMMERCIAL PAYER COVERAGE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1025708" y="3715196"/>
            <a:ext cx="3847430" cy="438150"/>
          </a:xfrm>
          <a:prstGeom prst="rect">
            <a:avLst/>
          </a:prstGeom>
          <a:solidFill>
            <a:srgbClr val="1F5C8B"/>
          </a:solidFill>
          <a:ln/>
        </p:spPr>
      </p:sp>
      <p:sp>
        <p:nvSpPr>
          <p:cNvPr id="49" name="Shape 47"/>
          <p:cNvSpPr/>
          <p:nvPr/>
        </p:nvSpPr>
        <p:spPr>
          <a:xfrm>
            <a:off x="14892189" y="3715196"/>
            <a:ext cx="1791072" cy="438150"/>
          </a:xfrm>
          <a:prstGeom prst="rect">
            <a:avLst/>
          </a:prstGeom>
          <a:solidFill>
            <a:srgbClr val="A8C2D5"/>
          </a:solidFill>
          <a:ln/>
        </p:spPr>
      </p:sp>
      <p:sp>
        <p:nvSpPr>
          <p:cNvPr id="50" name="Shape 48"/>
          <p:cNvSpPr/>
          <p:nvPr/>
        </p:nvSpPr>
        <p:spPr>
          <a:xfrm>
            <a:off x="16702311" y="3715196"/>
            <a:ext cx="995065" cy="438150"/>
          </a:xfrm>
          <a:prstGeom prst="rect">
            <a:avLst/>
          </a:prstGeom>
          <a:solidFill>
            <a:srgbClr val="DCD9D2"/>
          </a:solidFill>
          <a:ln/>
        </p:spPr>
      </p:sp>
      <p:sp>
        <p:nvSpPr>
          <p:cNvPr id="51" name="Text 49"/>
          <p:cNvSpPr/>
          <p:nvPr/>
        </p:nvSpPr>
        <p:spPr>
          <a:xfrm>
            <a:off x="11025708" y="4305746"/>
            <a:ext cx="13830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3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Covered 58%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3332842" y="4305746"/>
            <a:ext cx="17602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3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 auth 27%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5982876" y="4305746"/>
            <a:ext cx="1885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3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covered 15%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11025708" y="5029646"/>
            <a:ext cx="6671667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55" name="Text 53"/>
          <p:cNvSpPr/>
          <p:nvPr/>
        </p:nvSpPr>
        <p:spPr>
          <a:xfrm>
            <a:off x="11025708" y="5277296"/>
            <a:ext cx="7338834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83"/>
              </a:lnSpc>
              <a:buNone/>
            </a:pPr>
            <a:r>
              <a:rPr lang="en-US" sz="6375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$842</a:t>
            </a:r>
            <a:endParaRPr lang="en-US" sz="6375" dirty="0"/>
          </a:p>
        </p:txBody>
      </p:sp>
      <p:sp>
        <p:nvSpPr>
          <p:cNvPr id="56" name="Text 54"/>
          <p:cNvSpPr/>
          <p:nvPr/>
        </p:nvSpPr>
        <p:spPr>
          <a:xfrm>
            <a:off x="11025708" y="6210746"/>
            <a:ext cx="6871817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965"/>
              </a:lnSpc>
              <a:buNone/>
            </a:pPr>
            <a:r>
              <a:rPr lang="en-US" sz="1875" dirty="0">
                <a:solidFill>
                  <a:srgbClr val="5F63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allowed amount per procedure, blended across sites of service. CMS OPPS Addendum B, CY2025.</a:t>
            </a:r>
            <a:endParaRPr lang="en-US" sz="1875" dirty="0"/>
          </a:p>
        </p:txBody>
      </p:sp>
      <p:sp>
        <p:nvSpPr>
          <p:cNvPr id="57" name="Shape 55"/>
          <p:cNvSpPr/>
          <p:nvPr/>
        </p:nvSpPr>
        <p:spPr>
          <a:xfrm>
            <a:off x="590550" y="9439275"/>
            <a:ext cx="17106900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58" name="Text 56"/>
          <p:cNvSpPr/>
          <p:nvPr/>
        </p:nvSpPr>
        <p:spPr>
          <a:xfrm>
            <a:off x="590550" y="9610725"/>
            <a:ext cx="43419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3A2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Zolomon Kaliser · Market assessment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6907991" y="9610725"/>
            <a:ext cx="8656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3A2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77095" y="476250"/>
            <a:ext cx="29923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27" kern="0" dirty="0">
                <a:solidFill>
                  <a:srgbClr val="A3A2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sample data</a:t>
            </a:r>
            <a:endParaRPr lang="en-US" sz="1275" dirty="0"/>
          </a:p>
        </p:txBody>
      </p:sp>
      <p:sp>
        <p:nvSpPr>
          <p:cNvPr id="3" name="Shape 1"/>
          <p:cNvSpPr/>
          <p:nvPr/>
        </p:nvSpPr>
        <p:spPr>
          <a:xfrm>
            <a:off x="590550" y="1586805"/>
            <a:ext cx="17106900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4" name="Text 2"/>
          <p:cNvSpPr/>
          <p:nvPr/>
        </p:nvSpPr>
        <p:spPr>
          <a:xfrm>
            <a:off x="590550" y="619125"/>
            <a:ext cx="188175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81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FIVE-YEAR REVENUE MODEL · </a:t>
            </a:r>
            <a:pPr algn="l" indent="0" marL="0">
              <a:buNone/>
            </a:pPr>
            <a:r>
              <a:rPr lang="en-US" sz="1275" spc="281" kern="0" dirty="0">
                <a:solidFill>
                  <a:srgbClr val="A3A2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590550" y="923925"/>
            <a:ext cx="1881759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200"/>
              </a:lnSpc>
              <a:buNone/>
            </a:pPr>
            <a:r>
              <a:rPr lang="en-US" sz="3300" dirty="0">
                <a:solidFill>
                  <a:srgbClr val="1618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case, US direct sales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0550" y="3506986"/>
            <a:ext cx="2587228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7" name="Shape 5"/>
          <p:cNvSpPr/>
          <p:nvPr/>
        </p:nvSpPr>
        <p:spPr>
          <a:xfrm>
            <a:off x="3177778" y="3506986"/>
            <a:ext cx="1398538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8" name="Text 6"/>
          <p:cNvSpPr/>
          <p:nvPr/>
        </p:nvSpPr>
        <p:spPr>
          <a:xfrm>
            <a:off x="3215878" y="3016002"/>
            <a:ext cx="1246138" cy="414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spc="168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6316" y="3506986"/>
            <a:ext cx="1398463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10" name="Text 8"/>
          <p:cNvSpPr/>
          <p:nvPr/>
        </p:nvSpPr>
        <p:spPr>
          <a:xfrm>
            <a:off x="4614416" y="3016002"/>
            <a:ext cx="1246063" cy="414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spc="168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74779" y="3506986"/>
            <a:ext cx="1398538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12" name="Text 10"/>
          <p:cNvSpPr/>
          <p:nvPr/>
        </p:nvSpPr>
        <p:spPr>
          <a:xfrm>
            <a:off x="6012879" y="3016002"/>
            <a:ext cx="1246138" cy="414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spc="168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73317" y="3506986"/>
            <a:ext cx="1398538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14" name="Text 12"/>
          <p:cNvSpPr/>
          <p:nvPr/>
        </p:nvSpPr>
        <p:spPr>
          <a:xfrm>
            <a:off x="7411417" y="3016002"/>
            <a:ext cx="1246138" cy="414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spc="168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71855" y="3506986"/>
            <a:ext cx="1398538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16" name="Text 14"/>
          <p:cNvSpPr/>
          <p:nvPr/>
        </p:nvSpPr>
        <p:spPr>
          <a:xfrm>
            <a:off x="8809955" y="3016002"/>
            <a:ext cx="1246138" cy="414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spc="168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0550" y="4483745"/>
            <a:ext cx="258722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18" name="Text 16"/>
          <p:cNvSpPr/>
          <p:nvPr/>
        </p:nvSpPr>
        <p:spPr>
          <a:xfrm>
            <a:off x="704850" y="3764161"/>
            <a:ext cx="2436245" cy="51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177778" y="4483745"/>
            <a:ext cx="139853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20" name="Text 18"/>
          <p:cNvSpPr/>
          <p:nvPr/>
        </p:nvSpPr>
        <p:spPr>
          <a:xfrm>
            <a:off x="3215878" y="3764161"/>
            <a:ext cx="1246138" cy="51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6316" y="4483745"/>
            <a:ext cx="1398463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22" name="Text 20"/>
          <p:cNvSpPr/>
          <p:nvPr/>
        </p:nvSpPr>
        <p:spPr>
          <a:xfrm>
            <a:off x="4614416" y="3764161"/>
            <a:ext cx="1246063" cy="51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974779" y="4483745"/>
            <a:ext cx="139853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24" name="Text 22"/>
          <p:cNvSpPr/>
          <p:nvPr/>
        </p:nvSpPr>
        <p:spPr>
          <a:xfrm>
            <a:off x="6012879" y="3764161"/>
            <a:ext cx="1246138" cy="51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1,480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373317" y="4483745"/>
            <a:ext cx="139853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26" name="Text 24"/>
          <p:cNvSpPr/>
          <p:nvPr/>
        </p:nvSpPr>
        <p:spPr>
          <a:xfrm>
            <a:off x="7411417" y="3764161"/>
            <a:ext cx="1246138" cy="51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2,900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771855" y="4483745"/>
            <a:ext cx="139853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28" name="Text 26"/>
          <p:cNvSpPr/>
          <p:nvPr/>
        </p:nvSpPr>
        <p:spPr>
          <a:xfrm>
            <a:off x="8809955" y="3764161"/>
            <a:ext cx="1246138" cy="51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4,600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90550" y="5460504"/>
            <a:ext cx="258722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30" name="Text 28"/>
          <p:cNvSpPr/>
          <p:nvPr/>
        </p:nvSpPr>
        <p:spPr>
          <a:xfrm>
            <a:off x="704850" y="4740920"/>
            <a:ext cx="2436245" cy="51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177778" y="5460504"/>
            <a:ext cx="139853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32" name="Text 30"/>
          <p:cNvSpPr/>
          <p:nvPr/>
        </p:nvSpPr>
        <p:spPr>
          <a:xfrm>
            <a:off x="3215878" y="4740920"/>
            <a:ext cx="1246138" cy="51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9,800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576316" y="5460504"/>
            <a:ext cx="1398463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34" name="Text 32"/>
          <p:cNvSpPr/>
          <p:nvPr/>
        </p:nvSpPr>
        <p:spPr>
          <a:xfrm>
            <a:off x="4614416" y="4740920"/>
            <a:ext cx="1246063" cy="51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9,650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974779" y="5460504"/>
            <a:ext cx="139853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36" name="Text 34"/>
          <p:cNvSpPr/>
          <p:nvPr/>
        </p:nvSpPr>
        <p:spPr>
          <a:xfrm>
            <a:off x="6012879" y="4740920"/>
            <a:ext cx="1246138" cy="51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9,400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373317" y="5460504"/>
            <a:ext cx="139853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38" name="Text 36"/>
          <p:cNvSpPr/>
          <p:nvPr/>
        </p:nvSpPr>
        <p:spPr>
          <a:xfrm>
            <a:off x="7411417" y="4740920"/>
            <a:ext cx="1246138" cy="51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9,150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771855" y="5460504"/>
            <a:ext cx="139853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40" name="Text 38"/>
          <p:cNvSpPr/>
          <p:nvPr/>
        </p:nvSpPr>
        <p:spPr>
          <a:xfrm>
            <a:off x="8809955" y="4740920"/>
            <a:ext cx="1246138" cy="51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8,900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90550" y="6437337"/>
            <a:ext cx="258722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42" name="Text 40"/>
          <p:cNvSpPr/>
          <p:nvPr/>
        </p:nvSpPr>
        <p:spPr>
          <a:xfrm>
            <a:off x="704850" y="5717679"/>
            <a:ext cx="2436245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$M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3177778" y="6437337"/>
            <a:ext cx="139853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44" name="Text 42"/>
          <p:cNvSpPr/>
          <p:nvPr/>
        </p:nvSpPr>
        <p:spPr>
          <a:xfrm>
            <a:off x="3215878" y="5717679"/>
            <a:ext cx="1246138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4576316" y="6437337"/>
            <a:ext cx="1398463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46" name="Text 44"/>
          <p:cNvSpPr/>
          <p:nvPr/>
        </p:nvSpPr>
        <p:spPr>
          <a:xfrm>
            <a:off x="4614416" y="5717679"/>
            <a:ext cx="1246063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6.2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974779" y="6437337"/>
            <a:ext cx="139853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48" name="Text 46"/>
          <p:cNvSpPr/>
          <p:nvPr/>
        </p:nvSpPr>
        <p:spPr>
          <a:xfrm>
            <a:off x="6012879" y="5717679"/>
            <a:ext cx="1246138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13.9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7373317" y="6437337"/>
            <a:ext cx="139853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50" name="Text 48"/>
          <p:cNvSpPr/>
          <p:nvPr/>
        </p:nvSpPr>
        <p:spPr>
          <a:xfrm>
            <a:off x="7411417" y="5717679"/>
            <a:ext cx="1246138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26.5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771855" y="6437337"/>
            <a:ext cx="139853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52" name="Text 50"/>
          <p:cNvSpPr/>
          <p:nvPr/>
        </p:nvSpPr>
        <p:spPr>
          <a:xfrm>
            <a:off x="8809955" y="5717679"/>
            <a:ext cx="1246138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40.9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90550" y="7414171"/>
            <a:ext cx="258722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54" name="Text 52"/>
          <p:cNvSpPr/>
          <p:nvPr/>
        </p:nvSpPr>
        <p:spPr>
          <a:xfrm>
            <a:off x="704850" y="6694512"/>
            <a:ext cx="2436245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COGS $M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3177778" y="7414171"/>
            <a:ext cx="139853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56" name="Text 54"/>
          <p:cNvSpPr/>
          <p:nvPr/>
        </p:nvSpPr>
        <p:spPr>
          <a:xfrm>
            <a:off x="3215878" y="6694512"/>
            <a:ext cx="1246138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4576316" y="7414171"/>
            <a:ext cx="1398463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58" name="Text 56"/>
          <p:cNvSpPr/>
          <p:nvPr/>
        </p:nvSpPr>
        <p:spPr>
          <a:xfrm>
            <a:off x="4614416" y="6694512"/>
            <a:ext cx="1246063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5974779" y="7414171"/>
            <a:ext cx="139853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60" name="Text 58"/>
          <p:cNvSpPr/>
          <p:nvPr/>
        </p:nvSpPr>
        <p:spPr>
          <a:xfrm>
            <a:off x="6012879" y="6694512"/>
            <a:ext cx="1246138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5.6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7373317" y="7414171"/>
            <a:ext cx="139853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62" name="Text 60"/>
          <p:cNvSpPr/>
          <p:nvPr/>
        </p:nvSpPr>
        <p:spPr>
          <a:xfrm>
            <a:off x="7411417" y="6694512"/>
            <a:ext cx="1246138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8771855" y="7414171"/>
            <a:ext cx="1398538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64" name="Text 62"/>
          <p:cNvSpPr/>
          <p:nvPr/>
        </p:nvSpPr>
        <p:spPr>
          <a:xfrm>
            <a:off x="8809955" y="6694512"/>
            <a:ext cx="1246138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618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14.7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704850" y="7671346"/>
            <a:ext cx="2436245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C5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 margin %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3215878" y="7671346"/>
            <a:ext cx="1246138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F5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4614416" y="7671346"/>
            <a:ext cx="1246063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F5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6012879" y="7671346"/>
            <a:ext cx="1246138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F5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7411417" y="7671346"/>
            <a:ext cx="1246138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F5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8809955" y="7671346"/>
            <a:ext cx="1246138" cy="510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F5C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1196786" y="3235077"/>
            <a:ext cx="6500589" cy="9525"/>
          </a:xfrm>
          <a:prstGeom prst="rect">
            <a:avLst/>
          </a:prstGeom>
          <a:solidFill>
            <a:srgbClr val="16181A"/>
          </a:solidFill>
          <a:ln/>
        </p:spPr>
      </p:sp>
      <p:sp>
        <p:nvSpPr>
          <p:cNvPr id="72" name="Text 70"/>
          <p:cNvSpPr/>
          <p:nvPr/>
        </p:nvSpPr>
        <p:spPr>
          <a:xfrm>
            <a:off x="11196786" y="2901702"/>
            <a:ext cx="66956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40" kern="0" dirty="0">
                <a:solidFill>
                  <a:srgbClr val="8A8D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REVENUE, $M</a:t>
            </a:r>
            <a:endParaRPr lang="en-US" sz="1200" dirty="0"/>
          </a:p>
        </p:txBody>
      </p:sp>
      <p:pic>
        <p:nvPicPr>
          <p:cNvPr id="7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96786" y="3444627"/>
            <a:ext cx="6500589" cy="3965302"/>
          </a:xfrm>
          <a:prstGeom prst="rect">
            <a:avLst/>
          </a:prstGeom>
        </p:spPr>
      </p:pic>
      <p:sp>
        <p:nvSpPr>
          <p:cNvPr id="74" name="Text 71"/>
          <p:cNvSpPr/>
          <p:nvPr/>
        </p:nvSpPr>
        <p:spPr>
          <a:xfrm>
            <a:off x="11196786" y="7652817"/>
            <a:ext cx="6695607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965"/>
              </a:lnSpc>
              <a:buNone/>
            </a:pPr>
            <a:r>
              <a:rPr lang="en-US" sz="1875" dirty="0">
                <a:solidFill>
                  <a:srgbClr val="5F63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Illustrative sample data. Assumes 340 target centers and 3.4% annual ASP erosion.</a:t>
            </a:r>
            <a:endParaRPr lang="en-US" sz="1875" dirty="0"/>
          </a:p>
        </p:txBody>
      </p:sp>
      <p:sp>
        <p:nvSpPr>
          <p:cNvPr id="75" name="Shape 72"/>
          <p:cNvSpPr/>
          <p:nvPr/>
        </p:nvSpPr>
        <p:spPr>
          <a:xfrm>
            <a:off x="590550" y="9439275"/>
            <a:ext cx="17106900" cy="9525"/>
          </a:xfrm>
          <a:prstGeom prst="rect">
            <a:avLst/>
          </a:prstGeom>
          <a:solidFill>
            <a:srgbClr val="E2DED5"/>
          </a:solidFill>
          <a:ln/>
        </p:spPr>
      </p:sp>
      <p:sp>
        <p:nvSpPr>
          <p:cNvPr id="76" name="Text 73"/>
          <p:cNvSpPr/>
          <p:nvPr/>
        </p:nvSpPr>
        <p:spPr>
          <a:xfrm>
            <a:off x="590550" y="9610725"/>
            <a:ext cx="43419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3A2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Zolomon Kaliser · Market assessment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16907991" y="9610725"/>
            <a:ext cx="8656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3A2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2026-08-01T17:11:38Z</dcterms:created>
  <dcterms:modified xsi:type="dcterms:W3CDTF">2026-08-01T17:11:38Z</dcterms:modified>
</cp:coreProperties>
</file>